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Robo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Roboto-bold.fntdata"/><Relationship Id="rId10" Type="http://schemas.openxmlformats.org/officeDocument/2006/relationships/slide" Target="slides/slide5.xml"/><Relationship Id="rId21" Type="http://schemas.openxmlformats.org/officeDocument/2006/relationships/font" Target="fonts/Roboto-regular.fntdata"/><Relationship Id="rId13" Type="http://schemas.openxmlformats.org/officeDocument/2006/relationships/slide" Target="slides/slide8.xml"/><Relationship Id="rId24" Type="http://schemas.openxmlformats.org/officeDocument/2006/relationships/font" Target="fonts/Roboto-boldItalic.fntdata"/><Relationship Id="rId12" Type="http://schemas.openxmlformats.org/officeDocument/2006/relationships/slide" Target="slides/slide7.xml"/><Relationship Id="rId23"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c6f73a04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c6f73a0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c6f73a04f_0_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c6f73a04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d9ac4a013e_0_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d9ac4a013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d9ac4a013e_0_2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d9ac4a013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d9ac4a013e_0_4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d9ac4a013e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d9ac4a013e_14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d9ac4a013e_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d9ac4a013e_0_4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d9ac4a013e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d9ac4a013e_0_5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d9ac4a013e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d9ac4a013e_0_6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d9ac4a013e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d9ac4a013e_0_7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d9ac4a013e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d9ee2393fa_4_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d9ee2393fa_4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d9ac4a013e_0_8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d9ac4a013e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d9ac4a013e_1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d9ac4a013e_1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d9ac4a013e_17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d9ac4a013e_17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c6f73a04f_0_3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c6f73a04f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1600"/>
              </a:spcBef>
              <a:spcAft>
                <a:spcPts val="0"/>
              </a:spcAft>
              <a:buClr>
                <a:schemeClr val="lt1"/>
              </a:buClr>
              <a:buSzPts val="1200"/>
              <a:buChar char="○"/>
              <a:defRPr sz="1200">
                <a:solidFill>
                  <a:schemeClr val="lt1"/>
                </a:solidFill>
              </a:defRPr>
            </a:lvl2pPr>
            <a:lvl3pPr indent="-304800" lvl="2" marL="1371600">
              <a:spcBef>
                <a:spcPts val="1600"/>
              </a:spcBef>
              <a:spcAft>
                <a:spcPts val="0"/>
              </a:spcAft>
              <a:buClr>
                <a:schemeClr val="lt1"/>
              </a:buClr>
              <a:buSzPts val="1200"/>
              <a:buChar char="■"/>
              <a:defRPr sz="1200">
                <a:solidFill>
                  <a:schemeClr val="lt1"/>
                </a:solidFill>
              </a:defRPr>
            </a:lvl3pPr>
            <a:lvl4pPr indent="-304800" lvl="3" marL="1828800">
              <a:spcBef>
                <a:spcPts val="1600"/>
              </a:spcBef>
              <a:spcAft>
                <a:spcPts val="0"/>
              </a:spcAft>
              <a:buClr>
                <a:schemeClr val="lt1"/>
              </a:buClr>
              <a:buSzPts val="1200"/>
              <a:buChar char="●"/>
              <a:defRPr sz="1200">
                <a:solidFill>
                  <a:schemeClr val="lt1"/>
                </a:solidFill>
              </a:defRPr>
            </a:lvl4pPr>
            <a:lvl5pPr indent="-304800" lvl="4" marL="2286000">
              <a:spcBef>
                <a:spcPts val="1600"/>
              </a:spcBef>
              <a:spcAft>
                <a:spcPts val="0"/>
              </a:spcAft>
              <a:buClr>
                <a:schemeClr val="lt1"/>
              </a:buClr>
              <a:buSzPts val="1200"/>
              <a:buChar char="○"/>
              <a:defRPr sz="1200">
                <a:solidFill>
                  <a:schemeClr val="lt1"/>
                </a:solidFill>
              </a:defRPr>
            </a:lvl5pPr>
            <a:lvl6pPr indent="-304800" lvl="5" marL="2743200">
              <a:spcBef>
                <a:spcPts val="1600"/>
              </a:spcBef>
              <a:spcAft>
                <a:spcPts val="0"/>
              </a:spcAft>
              <a:buClr>
                <a:schemeClr val="lt1"/>
              </a:buClr>
              <a:buSzPts val="1200"/>
              <a:buChar char="■"/>
              <a:defRPr sz="1200">
                <a:solidFill>
                  <a:schemeClr val="lt1"/>
                </a:solidFill>
              </a:defRPr>
            </a:lvl6pPr>
            <a:lvl7pPr indent="-304800" lvl="6" marL="3200400">
              <a:spcBef>
                <a:spcPts val="1600"/>
              </a:spcBef>
              <a:spcAft>
                <a:spcPts val="0"/>
              </a:spcAft>
              <a:buClr>
                <a:schemeClr val="lt1"/>
              </a:buClr>
              <a:buSzPts val="1200"/>
              <a:buChar char="●"/>
              <a:defRPr sz="1200">
                <a:solidFill>
                  <a:schemeClr val="lt1"/>
                </a:solidFill>
              </a:defRPr>
            </a:lvl7pPr>
            <a:lvl8pPr indent="-304800" lvl="7" marL="3657600">
              <a:spcBef>
                <a:spcPts val="1600"/>
              </a:spcBef>
              <a:spcAft>
                <a:spcPts val="0"/>
              </a:spcAft>
              <a:buClr>
                <a:schemeClr val="lt1"/>
              </a:buClr>
              <a:buSzPts val="1200"/>
              <a:buChar char="○"/>
              <a:defRPr sz="1200">
                <a:solidFill>
                  <a:schemeClr val="lt1"/>
                </a:solidFill>
              </a:defRPr>
            </a:lvl8pPr>
            <a:lvl9pPr indent="-304800" lvl="8" marL="4114800">
              <a:spcBef>
                <a:spcPts val="1600"/>
              </a:spcBef>
              <a:spcAft>
                <a:spcPts val="160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600"/>
              <a:t>A Comparative Study of Binary Sentiment Analysis on IMDB and SST-2</a:t>
            </a:r>
            <a:endParaRPr sz="3600"/>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NLP Course Project: From Classical Baselines to Transformer Architectures</a:t>
            </a:r>
            <a:endParaRPr sz="1700"/>
          </a:p>
        </p:txBody>
      </p:sp>
      <p:sp>
        <p:nvSpPr>
          <p:cNvPr id="69" name="Google Shape;69;p13"/>
          <p:cNvSpPr txBox="1"/>
          <p:nvPr/>
        </p:nvSpPr>
        <p:spPr>
          <a:xfrm>
            <a:off x="390525" y="3760000"/>
            <a:ext cx="33795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Roboto"/>
                <a:ea typeface="Roboto"/>
                <a:cs typeface="Roboto"/>
                <a:sym typeface="Roboto"/>
              </a:rPr>
              <a:t>Team Members (Gr. 341 &amp; 331):</a:t>
            </a:r>
            <a:endParaRPr sz="1200">
              <a:solidFill>
                <a:schemeClr val="lt1"/>
              </a:solidFill>
              <a:latin typeface="Roboto"/>
              <a:ea typeface="Roboto"/>
              <a:cs typeface="Roboto"/>
              <a:sym typeface="Roboto"/>
            </a:endParaRPr>
          </a:p>
          <a:p>
            <a:pPr indent="-304800" lvl="0" marL="457200" rtl="0" algn="l">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Cuclea Luca-Nicoale</a:t>
            </a:r>
            <a:endParaRPr sz="1200">
              <a:solidFill>
                <a:schemeClr val="lt1"/>
              </a:solidFill>
              <a:latin typeface="Roboto"/>
              <a:ea typeface="Roboto"/>
              <a:cs typeface="Roboto"/>
              <a:sym typeface="Roboto"/>
            </a:endParaRPr>
          </a:p>
          <a:p>
            <a:pPr indent="-304800" lvl="0" marL="457200" rtl="0" algn="l">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Rizea Mihai-Marius</a:t>
            </a:r>
            <a:endParaRPr sz="1200">
              <a:solidFill>
                <a:schemeClr val="lt1"/>
              </a:solidFill>
              <a:latin typeface="Roboto"/>
              <a:ea typeface="Roboto"/>
              <a:cs typeface="Roboto"/>
              <a:sym typeface="Roboto"/>
            </a:endParaRPr>
          </a:p>
          <a:p>
            <a:pPr indent="-304800" lvl="0" marL="457200" rtl="0" algn="l">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Dilmac Cemil-Andrei </a:t>
            </a:r>
            <a:endParaRPr sz="1200">
              <a:solidFill>
                <a:schemeClr val="lt1"/>
              </a:solidFill>
              <a:latin typeface="Roboto"/>
              <a:ea typeface="Roboto"/>
              <a:cs typeface="Roboto"/>
              <a:sym typeface="Roboto"/>
            </a:endParaRPr>
          </a:p>
          <a:p>
            <a:pPr indent="-304800" lvl="0" marL="457200" rtl="0" algn="l">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Popa Petru</a:t>
            </a:r>
            <a:endParaRPr sz="1200">
              <a:solidFill>
                <a:schemeClr val="lt1"/>
              </a:solidFill>
              <a:latin typeface="Roboto"/>
              <a:ea typeface="Roboto"/>
              <a:cs typeface="Roboto"/>
              <a:sym typeface="Roboto"/>
            </a:endParaRPr>
          </a:p>
          <a:p>
            <a:pPr indent="0" lvl="0" marL="0" rtl="0" algn="l">
              <a:spcBef>
                <a:spcPts val="0"/>
              </a:spcBef>
              <a:spcAft>
                <a:spcPts val="0"/>
              </a:spcAft>
              <a:buNone/>
            </a:pPr>
            <a:r>
              <a:t/>
            </a:r>
            <a:endParaRPr sz="1200">
              <a:solidFill>
                <a:schemeClr val="lt2"/>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3" name="Shape 73"/>
        <p:cNvGrpSpPr/>
        <p:nvPr/>
      </p:nvGrpSpPr>
      <p:grpSpPr>
        <a:xfrm>
          <a:off x="0" y="0"/>
          <a:ext cx="0" cy="0"/>
          <a:chOff x="0" y="0"/>
          <a:chExt cx="0" cy="0"/>
        </a:xfrm>
      </p:grpSpPr>
      <p:sp>
        <p:nvSpPr>
          <p:cNvPr id="74" name="Google Shape;74;p1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SOTA Landscape</a:t>
            </a:r>
            <a:endParaRPr/>
          </a:p>
        </p:txBody>
      </p:sp>
      <p:sp>
        <p:nvSpPr>
          <p:cNvPr id="75" name="Google Shape;75;p14"/>
          <p:cNvSpPr txBox="1"/>
          <p:nvPr>
            <p:ph idx="1" type="body"/>
          </p:nvPr>
        </p:nvSpPr>
        <p:spPr>
          <a:xfrm>
            <a:off x="471900" y="2094625"/>
            <a:ext cx="3734400" cy="2710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b="1" lang="en" sz="1400"/>
              <a:t>SST-2</a:t>
            </a:r>
            <a:r>
              <a:rPr lang="en" sz="1400"/>
              <a:t>: large-scale Transformer encoders (Vega v1, Turing ULR v6)</a:t>
            </a:r>
            <a:endParaRPr sz="1400"/>
          </a:p>
          <a:p>
            <a:pPr indent="0" lvl="0" marL="457200" rtl="0" algn="l">
              <a:spcBef>
                <a:spcPts val="1600"/>
              </a:spcBef>
              <a:spcAft>
                <a:spcPts val="0"/>
              </a:spcAft>
              <a:buNone/>
            </a:pPr>
            <a:r>
              <a:t/>
            </a:r>
            <a:endParaRPr sz="1400"/>
          </a:p>
          <a:p>
            <a:pPr indent="-317500" lvl="0" marL="457200" rtl="0" algn="l">
              <a:spcBef>
                <a:spcPts val="1600"/>
              </a:spcBef>
              <a:spcAft>
                <a:spcPts val="0"/>
              </a:spcAft>
              <a:buSzPts val="1400"/>
              <a:buChar char="-"/>
            </a:pPr>
            <a:r>
              <a:rPr b="1" lang="en" sz="1400"/>
              <a:t>IMDB</a:t>
            </a:r>
            <a:r>
              <a:rPr lang="en" sz="1400"/>
              <a:t>: hybrid models (RoBERTa + SVM, XGBoost or LLMs)</a:t>
            </a:r>
            <a:endParaRPr sz="1400"/>
          </a:p>
        </p:txBody>
      </p:sp>
      <p:pic>
        <p:nvPicPr>
          <p:cNvPr descr="make it white theme" id="76" name="Google Shape;76;p14"/>
          <p:cNvPicPr preferRelativeResize="0"/>
          <p:nvPr/>
        </p:nvPicPr>
        <p:blipFill rotWithShape="1">
          <a:blip r:embed="rId3">
            <a:alphaModFix/>
          </a:blip>
          <a:srcRect b="2635" l="1029" r="0" t="3274"/>
          <a:stretch/>
        </p:blipFill>
        <p:spPr>
          <a:xfrm>
            <a:off x="4472900" y="2094625"/>
            <a:ext cx="4367400" cy="2092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Datasets &amp; Preprocessing</a:t>
            </a:r>
            <a:endParaRPr/>
          </a:p>
        </p:txBody>
      </p:sp>
      <p:sp>
        <p:nvSpPr>
          <p:cNvPr id="82" name="Google Shape;82;p15"/>
          <p:cNvSpPr txBox="1"/>
          <p:nvPr>
            <p:ph idx="1" type="body"/>
          </p:nvPr>
        </p:nvSpPr>
        <p:spPr>
          <a:xfrm>
            <a:off x="471900" y="1919075"/>
            <a:ext cx="4480500" cy="293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t>Scale Contrast</a:t>
            </a:r>
            <a:r>
              <a:rPr lang="en" sz="1400"/>
              <a:t>:</a:t>
            </a:r>
            <a:endParaRPr sz="1400"/>
          </a:p>
          <a:p>
            <a:pPr indent="-317500" lvl="0" marL="457200" rtl="0" algn="l">
              <a:spcBef>
                <a:spcPts val="1600"/>
              </a:spcBef>
              <a:spcAft>
                <a:spcPts val="0"/>
              </a:spcAft>
              <a:buSzPts val="1400"/>
              <a:buChar char="-"/>
            </a:pPr>
            <a:r>
              <a:rPr lang="en" sz="1400"/>
              <a:t>short snippets (9.4 words avg) in SST-2</a:t>
            </a:r>
            <a:endParaRPr sz="1400"/>
          </a:p>
          <a:p>
            <a:pPr indent="-317500" lvl="0" marL="457200" rtl="0" algn="l">
              <a:spcBef>
                <a:spcPts val="0"/>
              </a:spcBef>
              <a:spcAft>
                <a:spcPts val="0"/>
              </a:spcAft>
              <a:buSzPts val="1400"/>
              <a:buChar char="-"/>
            </a:pPr>
            <a:r>
              <a:rPr lang="en" sz="1400"/>
              <a:t>document-level reviews (233 words avg) in IMDB</a:t>
            </a:r>
            <a:endParaRPr sz="1400"/>
          </a:p>
          <a:p>
            <a:pPr indent="0" lvl="0" marL="0" rtl="0" algn="l">
              <a:spcBef>
                <a:spcPts val="1600"/>
              </a:spcBef>
              <a:spcAft>
                <a:spcPts val="0"/>
              </a:spcAft>
              <a:buNone/>
            </a:pPr>
            <a:r>
              <a:rPr b="1" lang="en" sz="1400"/>
              <a:t>Light Cleanup</a:t>
            </a:r>
            <a:r>
              <a:rPr lang="en" sz="1400"/>
              <a:t>:</a:t>
            </a:r>
            <a:endParaRPr sz="1400"/>
          </a:p>
          <a:p>
            <a:pPr indent="-317500" lvl="0" marL="457200" rtl="0" algn="l">
              <a:spcBef>
                <a:spcPts val="1600"/>
              </a:spcBef>
              <a:spcAft>
                <a:spcPts val="0"/>
              </a:spcAft>
              <a:buSzPts val="1400"/>
              <a:buChar char="-"/>
            </a:pPr>
            <a:r>
              <a:rPr lang="en" sz="1400"/>
              <a:t>HTML removal</a:t>
            </a:r>
            <a:endParaRPr sz="1400"/>
          </a:p>
          <a:p>
            <a:pPr indent="-317500" lvl="0" marL="457200" rtl="0" algn="l">
              <a:spcBef>
                <a:spcPts val="0"/>
              </a:spcBef>
              <a:spcAft>
                <a:spcPts val="0"/>
              </a:spcAft>
              <a:buSzPts val="1400"/>
              <a:buChar char="-"/>
            </a:pPr>
            <a:r>
              <a:rPr lang="en" sz="1400"/>
              <a:t>contraction expansion ("don't" -&gt; "do not")</a:t>
            </a:r>
            <a:endParaRPr sz="1400"/>
          </a:p>
        </p:txBody>
      </p:sp>
      <p:pic>
        <p:nvPicPr>
          <p:cNvPr id="83" name="Google Shape;83;p15"/>
          <p:cNvPicPr preferRelativeResize="0"/>
          <p:nvPr/>
        </p:nvPicPr>
        <p:blipFill>
          <a:blip r:embed="rId3">
            <a:alphaModFix/>
          </a:blip>
          <a:stretch>
            <a:fillRect/>
          </a:stretch>
        </p:blipFill>
        <p:spPr>
          <a:xfrm>
            <a:off x="5251450" y="1751198"/>
            <a:ext cx="3442550" cy="1641116"/>
          </a:xfrm>
          <a:prstGeom prst="rect">
            <a:avLst/>
          </a:prstGeom>
          <a:noFill/>
          <a:ln>
            <a:noFill/>
          </a:ln>
        </p:spPr>
      </p:pic>
      <p:pic>
        <p:nvPicPr>
          <p:cNvPr id="84" name="Google Shape;84;p15"/>
          <p:cNvPicPr preferRelativeResize="0"/>
          <p:nvPr/>
        </p:nvPicPr>
        <p:blipFill>
          <a:blip r:embed="rId4">
            <a:alphaModFix/>
          </a:blip>
          <a:stretch>
            <a:fillRect/>
          </a:stretch>
        </p:blipFill>
        <p:spPr>
          <a:xfrm>
            <a:off x="5251454" y="3392325"/>
            <a:ext cx="3442546" cy="16319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TF-IDF</a:t>
            </a:r>
            <a:endParaRPr/>
          </a:p>
        </p:txBody>
      </p:sp>
      <p:sp>
        <p:nvSpPr>
          <p:cNvPr id="90" name="Google Shape;90;p16"/>
          <p:cNvSpPr txBox="1"/>
          <p:nvPr>
            <p:ph idx="1" type="body"/>
          </p:nvPr>
        </p:nvSpPr>
        <p:spPr>
          <a:xfrm>
            <a:off x="44050" y="2043625"/>
            <a:ext cx="3025800" cy="27555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b="1" lang="en" sz="1200"/>
              <a:t>Weighted Discrimination</a:t>
            </a:r>
            <a:r>
              <a:rPr lang="en" sz="1200"/>
              <a:t>: prioritizes specific, informative words over raw frequency</a:t>
            </a:r>
            <a:endParaRPr sz="1200"/>
          </a:p>
          <a:p>
            <a:pPr indent="0" lvl="0" marL="457200" rtl="0" algn="l">
              <a:spcBef>
                <a:spcPts val="1600"/>
              </a:spcBef>
              <a:spcAft>
                <a:spcPts val="0"/>
              </a:spcAft>
              <a:buNone/>
            </a:pPr>
            <a:r>
              <a:rPr b="1" lang="en" sz="1200"/>
              <a:t>Performance</a:t>
            </a:r>
            <a:r>
              <a:rPr lang="en" sz="1200"/>
              <a:t>: 0.9148 acc and 0.970 AUC on IMDB validation</a:t>
            </a:r>
            <a:endParaRPr sz="1200"/>
          </a:p>
          <a:p>
            <a:pPr indent="0" lvl="0" marL="457200" rtl="0" algn="l">
              <a:spcBef>
                <a:spcPts val="1600"/>
              </a:spcBef>
              <a:spcAft>
                <a:spcPts val="1600"/>
              </a:spcAft>
              <a:buNone/>
            </a:pPr>
            <a:r>
              <a:rPr b="1" lang="en" sz="1200"/>
              <a:t>Capture of Phrases</a:t>
            </a:r>
            <a:r>
              <a:rPr lang="en" sz="1200"/>
              <a:t>: Uses n-grams (1–3) to identify multi-word sentiment cues like "must see", "well worth", and "not worth"</a:t>
            </a:r>
            <a:endParaRPr sz="1200"/>
          </a:p>
        </p:txBody>
      </p:sp>
      <p:pic>
        <p:nvPicPr>
          <p:cNvPr id="91" name="Google Shape;91;p16"/>
          <p:cNvPicPr preferRelativeResize="0"/>
          <p:nvPr/>
        </p:nvPicPr>
        <p:blipFill>
          <a:blip r:embed="rId3">
            <a:alphaModFix/>
          </a:blip>
          <a:stretch>
            <a:fillRect/>
          </a:stretch>
        </p:blipFill>
        <p:spPr>
          <a:xfrm>
            <a:off x="2959950" y="2043613"/>
            <a:ext cx="6108951" cy="2579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Classical Baselines</a:t>
            </a:r>
            <a:endParaRPr/>
          </a:p>
          <a:p>
            <a:pPr indent="0" lvl="0" marL="0" rtl="0" algn="l">
              <a:spcBef>
                <a:spcPts val="0"/>
              </a:spcBef>
              <a:spcAft>
                <a:spcPts val="0"/>
              </a:spcAft>
              <a:buNone/>
            </a:pPr>
            <a:r>
              <a:rPr lang="en" sz="1600"/>
              <a:t>Linear SVM </a:t>
            </a:r>
            <a:endParaRPr sz="1600"/>
          </a:p>
        </p:txBody>
      </p:sp>
      <p:sp>
        <p:nvSpPr>
          <p:cNvPr id="97" name="Google Shape;97;p17"/>
          <p:cNvSpPr txBox="1"/>
          <p:nvPr>
            <p:ph idx="1" type="body"/>
          </p:nvPr>
        </p:nvSpPr>
        <p:spPr>
          <a:xfrm>
            <a:off x="471900" y="1919075"/>
            <a:ext cx="2517600" cy="275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t>Efficiency</a:t>
            </a:r>
            <a:r>
              <a:rPr lang="en" sz="1200"/>
              <a:t>: fast and lightweight baselines, able to run on standard hardware without a GPU</a:t>
            </a:r>
            <a:endParaRPr sz="1200"/>
          </a:p>
          <a:p>
            <a:pPr indent="0" lvl="0" marL="0" rtl="0" algn="l">
              <a:spcBef>
                <a:spcPts val="1600"/>
              </a:spcBef>
              <a:spcAft>
                <a:spcPts val="0"/>
              </a:spcAft>
              <a:buNone/>
            </a:pPr>
            <a:r>
              <a:rPr b="1" lang="en" sz="1200"/>
              <a:t>High-Dimensional Scalability</a:t>
            </a:r>
            <a:r>
              <a:rPr lang="en" sz="1200"/>
              <a:t>: handled TF-IDF matrices with up to 200,000 features through </a:t>
            </a:r>
            <a:r>
              <a:rPr b="1" lang="en" sz="1200"/>
              <a:t>margin-maximizing</a:t>
            </a:r>
            <a:r>
              <a:rPr lang="en" sz="1200"/>
              <a:t> approaches</a:t>
            </a:r>
            <a:endParaRPr sz="1200"/>
          </a:p>
          <a:p>
            <a:pPr indent="0" lvl="0" marL="0" rtl="0" algn="l">
              <a:spcBef>
                <a:spcPts val="1600"/>
              </a:spcBef>
              <a:spcAft>
                <a:spcPts val="1600"/>
              </a:spcAft>
              <a:buNone/>
            </a:pPr>
            <a:r>
              <a:rPr b="1" lang="en" sz="1200"/>
              <a:t>Performance</a:t>
            </a:r>
            <a:r>
              <a:rPr lang="en" sz="1200"/>
              <a:t>: 83.7% acc on SST-2 and 90.1% on the IMDB test set</a:t>
            </a:r>
            <a:endParaRPr sz="1200"/>
          </a:p>
        </p:txBody>
      </p:sp>
      <p:pic>
        <p:nvPicPr>
          <p:cNvPr id="98" name="Google Shape;98;p17"/>
          <p:cNvPicPr preferRelativeResize="0"/>
          <p:nvPr/>
        </p:nvPicPr>
        <p:blipFill>
          <a:blip r:embed="rId3">
            <a:alphaModFix/>
          </a:blip>
          <a:stretch>
            <a:fillRect/>
          </a:stretch>
        </p:blipFill>
        <p:spPr>
          <a:xfrm>
            <a:off x="5944025" y="2050975"/>
            <a:ext cx="2921626" cy="2279250"/>
          </a:xfrm>
          <a:prstGeom prst="rect">
            <a:avLst/>
          </a:prstGeom>
          <a:noFill/>
          <a:ln>
            <a:noFill/>
          </a:ln>
        </p:spPr>
      </p:pic>
      <p:pic>
        <p:nvPicPr>
          <p:cNvPr id="99" name="Google Shape;99;p17"/>
          <p:cNvPicPr preferRelativeResize="0"/>
          <p:nvPr/>
        </p:nvPicPr>
        <p:blipFill rotWithShape="1">
          <a:blip r:embed="rId4">
            <a:alphaModFix/>
          </a:blip>
          <a:srcRect b="4141" l="0" r="0" t="0"/>
          <a:stretch/>
        </p:blipFill>
        <p:spPr>
          <a:xfrm>
            <a:off x="2989500" y="2050975"/>
            <a:ext cx="2837275" cy="22792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Classical Baselines</a:t>
            </a:r>
            <a:endParaRPr/>
          </a:p>
          <a:p>
            <a:pPr indent="0" lvl="0" marL="0" rtl="0" algn="l">
              <a:spcBef>
                <a:spcPts val="0"/>
              </a:spcBef>
              <a:spcAft>
                <a:spcPts val="0"/>
              </a:spcAft>
              <a:buNone/>
            </a:pPr>
            <a:r>
              <a:rPr lang="en" sz="1600"/>
              <a:t>Logistic Regression</a:t>
            </a:r>
            <a:endParaRPr sz="1600"/>
          </a:p>
        </p:txBody>
      </p:sp>
      <p:sp>
        <p:nvSpPr>
          <p:cNvPr id="105" name="Google Shape;105;p18"/>
          <p:cNvSpPr txBox="1"/>
          <p:nvPr>
            <p:ph idx="1" type="body"/>
          </p:nvPr>
        </p:nvSpPr>
        <p:spPr>
          <a:xfrm>
            <a:off x="471900" y="1919075"/>
            <a:ext cx="2517600" cy="275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t>Efficiency</a:t>
            </a:r>
            <a:r>
              <a:rPr lang="en" sz="1200"/>
              <a:t>: fast and lightweight baselines, able to run on standard hardware without a GPU</a:t>
            </a:r>
            <a:endParaRPr sz="1200"/>
          </a:p>
          <a:p>
            <a:pPr indent="0" lvl="0" marL="0" rtl="0" algn="l">
              <a:spcBef>
                <a:spcPts val="1600"/>
              </a:spcBef>
              <a:spcAft>
                <a:spcPts val="0"/>
              </a:spcAft>
              <a:buNone/>
            </a:pPr>
            <a:r>
              <a:rPr b="1" lang="en" sz="1200"/>
              <a:t>High-Dimensional Scalability</a:t>
            </a:r>
            <a:r>
              <a:rPr lang="en" sz="1200"/>
              <a:t>: </a:t>
            </a:r>
            <a:r>
              <a:rPr lang="en" sz="1200"/>
              <a:t>handled TF-IDF matrices with up to 200,000 features using </a:t>
            </a:r>
            <a:r>
              <a:rPr b="1" lang="en" sz="1200"/>
              <a:t>L2-regularized logistic loss optimization</a:t>
            </a:r>
            <a:r>
              <a:rPr lang="en" sz="1200"/>
              <a:t> </a:t>
            </a:r>
            <a:endParaRPr sz="1300"/>
          </a:p>
          <a:p>
            <a:pPr indent="0" lvl="0" marL="0" rtl="0" algn="l">
              <a:spcBef>
                <a:spcPts val="1600"/>
              </a:spcBef>
              <a:spcAft>
                <a:spcPts val="1600"/>
              </a:spcAft>
              <a:buNone/>
            </a:pPr>
            <a:r>
              <a:rPr b="1" lang="en" sz="1200"/>
              <a:t>Performance</a:t>
            </a:r>
            <a:r>
              <a:rPr lang="en" sz="1200"/>
              <a:t>: 83.4% acc on SST-2 and 90.9% on the IMDB test set</a:t>
            </a:r>
            <a:endParaRPr sz="1200"/>
          </a:p>
        </p:txBody>
      </p:sp>
      <p:pic>
        <p:nvPicPr>
          <p:cNvPr id="106" name="Google Shape;106;p18"/>
          <p:cNvPicPr preferRelativeResize="0"/>
          <p:nvPr/>
        </p:nvPicPr>
        <p:blipFill>
          <a:blip r:embed="rId3">
            <a:alphaModFix/>
          </a:blip>
          <a:stretch>
            <a:fillRect/>
          </a:stretch>
        </p:blipFill>
        <p:spPr>
          <a:xfrm>
            <a:off x="2989500" y="2074450"/>
            <a:ext cx="2966503" cy="2279251"/>
          </a:xfrm>
          <a:prstGeom prst="rect">
            <a:avLst/>
          </a:prstGeom>
          <a:noFill/>
          <a:ln>
            <a:noFill/>
          </a:ln>
        </p:spPr>
      </p:pic>
      <p:pic>
        <p:nvPicPr>
          <p:cNvPr id="107" name="Google Shape;107;p18"/>
          <p:cNvPicPr preferRelativeResize="0"/>
          <p:nvPr/>
        </p:nvPicPr>
        <p:blipFill>
          <a:blip r:embed="rId4">
            <a:alphaModFix/>
          </a:blip>
          <a:stretch>
            <a:fillRect/>
          </a:stretch>
        </p:blipFill>
        <p:spPr>
          <a:xfrm>
            <a:off x="6050162" y="2081675"/>
            <a:ext cx="2966501" cy="226479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Hybrid Innovation</a:t>
            </a:r>
            <a:endParaRPr/>
          </a:p>
          <a:p>
            <a:pPr indent="0" lvl="0" marL="0" rtl="0" algn="l">
              <a:spcBef>
                <a:spcPts val="0"/>
              </a:spcBef>
              <a:spcAft>
                <a:spcPts val="0"/>
              </a:spcAft>
              <a:buNone/>
            </a:pPr>
            <a:r>
              <a:rPr lang="en" sz="1600"/>
              <a:t>Naive Bayes + SVM</a:t>
            </a:r>
            <a:endParaRPr sz="1600"/>
          </a:p>
        </p:txBody>
      </p:sp>
      <p:sp>
        <p:nvSpPr>
          <p:cNvPr id="113" name="Google Shape;113;p19"/>
          <p:cNvSpPr txBox="1"/>
          <p:nvPr>
            <p:ph idx="1" type="body"/>
          </p:nvPr>
        </p:nvSpPr>
        <p:spPr>
          <a:xfrm>
            <a:off x="471900" y="1919075"/>
            <a:ext cx="2479500" cy="277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t>The Best of Both Worlds</a:t>
            </a:r>
            <a:r>
              <a:rPr lang="en" sz="1200"/>
              <a:t>: generative power (Naive Bayes) + discriminative logic (SVM)</a:t>
            </a:r>
            <a:endParaRPr sz="1200"/>
          </a:p>
          <a:p>
            <a:pPr indent="0" lvl="0" marL="0" rtl="0" algn="l">
              <a:spcBef>
                <a:spcPts val="1600"/>
              </a:spcBef>
              <a:spcAft>
                <a:spcPts val="0"/>
              </a:spcAft>
              <a:buNone/>
            </a:pPr>
            <a:r>
              <a:rPr b="1" lang="en" sz="1200"/>
              <a:t>Log-Count Ratios</a:t>
            </a:r>
            <a:r>
              <a:rPr lang="en" sz="1200"/>
              <a:t>: features are re-weighted based on how strongly they associate with a specific class, providing a cleaner signal for the SVM</a:t>
            </a:r>
            <a:endParaRPr sz="1200"/>
          </a:p>
          <a:p>
            <a:pPr indent="0" lvl="0" marL="0" rtl="0" algn="l">
              <a:spcBef>
                <a:spcPts val="1600"/>
              </a:spcBef>
              <a:spcAft>
                <a:spcPts val="1600"/>
              </a:spcAft>
              <a:buNone/>
            </a:pPr>
            <a:r>
              <a:rPr b="1" lang="en" sz="1200"/>
              <a:t>Performance</a:t>
            </a:r>
            <a:r>
              <a:rPr lang="en" sz="1200"/>
              <a:t>: 84% acc on SST-2 and 91.6% on IMDB (</a:t>
            </a:r>
            <a:r>
              <a:rPr lang="en" sz="1200"/>
              <a:t>highest accuracy among all traditional methods on SST-2)</a:t>
            </a:r>
            <a:endParaRPr sz="1200"/>
          </a:p>
        </p:txBody>
      </p:sp>
      <p:pic>
        <p:nvPicPr>
          <p:cNvPr id="114" name="Google Shape;114;p19"/>
          <p:cNvPicPr preferRelativeResize="0"/>
          <p:nvPr/>
        </p:nvPicPr>
        <p:blipFill rotWithShape="1">
          <a:blip r:embed="rId3">
            <a:alphaModFix/>
          </a:blip>
          <a:srcRect b="0" l="0" r="0" t="2095"/>
          <a:stretch/>
        </p:blipFill>
        <p:spPr>
          <a:xfrm>
            <a:off x="6131275" y="2166500"/>
            <a:ext cx="2844200" cy="2190699"/>
          </a:xfrm>
          <a:prstGeom prst="rect">
            <a:avLst/>
          </a:prstGeom>
          <a:noFill/>
          <a:ln>
            <a:noFill/>
          </a:ln>
        </p:spPr>
      </p:pic>
      <p:pic>
        <p:nvPicPr>
          <p:cNvPr id="115" name="Google Shape;115;p19"/>
          <p:cNvPicPr preferRelativeResize="0"/>
          <p:nvPr/>
        </p:nvPicPr>
        <p:blipFill>
          <a:blip r:embed="rId4">
            <a:alphaModFix/>
          </a:blip>
          <a:stretch>
            <a:fillRect/>
          </a:stretch>
        </p:blipFill>
        <p:spPr>
          <a:xfrm>
            <a:off x="3126650" y="2166500"/>
            <a:ext cx="2890699" cy="21907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Wall (Linguistic Messiness)</a:t>
            </a:r>
            <a:endParaRPr/>
          </a:p>
        </p:txBody>
      </p:sp>
      <p:sp>
        <p:nvSpPr>
          <p:cNvPr id="121" name="Google Shape;121;p20"/>
          <p:cNvSpPr txBox="1"/>
          <p:nvPr>
            <p:ph idx="1" type="body"/>
          </p:nvPr>
        </p:nvSpPr>
        <p:spPr>
          <a:xfrm>
            <a:off x="471900" y="1919075"/>
            <a:ext cx="4275900" cy="304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t>Contextual Blindness</a:t>
            </a:r>
            <a:r>
              <a:rPr lang="en" sz="1200"/>
              <a:t>: Models fail when sentiment pivots mid-sentence through contrastive markers like "Instead" or "Unfortunately": </a:t>
            </a:r>
            <a:r>
              <a:rPr b="1" i="1" lang="en" sz="1200"/>
              <a:t>“Comanche Moon had everything going for it. . . high-quality TV westerns. Unfortunately, the problems with ‘Moon’. . . ”</a:t>
            </a:r>
            <a:endParaRPr b="1" i="1" sz="1200"/>
          </a:p>
          <a:p>
            <a:pPr indent="0" lvl="0" marL="0" rtl="0" algn="l">
              <a:spcBef>
                <a:spcPts val="1600"/>
              </a:spcBef>
              <a:spcAft>
                <a:spcPts val="0"/>
              </a:spcAft>
              <a:buNone/>
            </a:pPr>
            <a:r>
              <a:rPr b="1" lang="en" sz="1200"/>
              <a:t>Poor aggregation of sentence-level sentiment</a:t>
            </a:r>
            <a:r>
              <a:rPr lang="en" sz="1200"/>
              <a:t>: Model fails to aggregate general sentiment when encountering both positive and negative </a:t>
            </a:r>
            <a:r>
              <a:rPr lang="en" sz="1200"/>
              <a:t>words in pretty equal amounts: </a:t>
            </a:r>
            <a:r>
              <a:rPr b="1" i="1" lang="en" sz="1200"/>
              <a:t>“To summarize this movie: nice for TV but too small for the theatre. I enjoyed watching this movie at home but I wont watch it a second time. The concept is good, but ...”</a:t>
            </a:r>
            <a:endParaRPr b="1" i="1" sz="1200"/>
          </a:p>
          <a:p>
            <a:pPr indent="0" lvl="0" marL="0" rtl="0" algn="l">
              <a:spcBef>
                <a:spcPts val="1600"/>
              </a:spcBef>
              <a:spcAft>
                <a:spcPts val="0"/>
              </a:spcAft>
              <a:buNone/>
            </a:pPr>
            <a:r>
              <a:t/>
            </a:r>
            <a:endParaRPr sz="1200"/>
          </a:p>
          <a:p>
            <a:pPr indent="0" lvl="0" marL="0" rtl="0" algn="l">
              <a:spcBef>
                <a:spcPts val="1600"/>
              </a:spcBef>
              <a:spcAft>
                <a:spcPts val="1600"/>
              </a:spcAft>
              <a:buNone/>
            </a:pPr>
            <a:r>
              <a:t/>
            </a:r>
            <a:endParaRPr b="1" i="1" sz="1200"/>
          </a:p>
        </p:txBody>
      </p:sp>
      <p:sp>
        <p:nvSpPr>
          <p:cNvPr id="122" name="Google Shape;122;p20"/>
          <p:cNvSpPr txBox="1"/>
          <p:nvPr/>
        </p:nvSpPr>
        <p:spPr>
          <a:xfrm>
            <a:off x="5096275" y="1919075"/>
            <a:ext cx="3722100" cy="304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a:solidFill>
                  <a:schemeClr val="lt2"/>
                </a:solidFill>
                <a:latin typeface="Roboto"/>
                <a:ea typeface="Roboto"/>
                <a:cs typeface="Roboto"/>
                <a:sym typeface="Roboto"/>
              </a:rPr>
              <a:t>Plot vs. Opinion</a:t>
            </a:r>
            <a:r>
              <a:rPr lang="en" sz="1200">
                <a:solidFill>
                  <a:schemeClr val="lt2"/>
                </a:solidFill>
                <a:latin typeface="Roboto"/>
                <a:ea typeface="Roboto"/>
                <a:cs typeface="Roboto"/>
                <a:sym typeface="Roboto"/>
              </a:rPr>
              <a:t>: Descriptive words ("creepy teenager" or "bad things") are often misidentified as negative reviews of the movie’s quality rather than just plot summaries: </a:t>
            </a:r>
            <a:r>
              <a:rPr b="1" i="1" lang="en" sz="1200">
                <a:solidFill>
                  <a:schemeClr val="lt2"/>
                </a:solidFill>
                <a:latin typeface="Roboto"/>
                <a:ea typeface="Roboto"/>
                <a:cs typeface="Roboto"/>
                <a:sym typeface="Roboto"/>
              </a:rPr>
              <a:t>“A depressed creepy teenager does many bad things. . .”</a:t>
            </a:r>
            <a:endParaRPr b="1" sz="1200">
              <a:solidFill>
                <a:schemeClr val="lt2"/>
              </a:solidFill>
              <a:latin typeface="Roboto"/>
              <a:ea typeface="Roboto"/>
              <a:cs typeface="Roboto"/>
              <a:sym typeface="Roboto"/>
            </a:endParaRPr>
          </a:p>
          <a:p>
            <a:pPr indent="0" lvl="0" marL="0" rtl="0" algn="l">
              <a:lnSpc>
                <a:spcPct val="115000"/>
              </a:lnSpc>
              <a:spcBef>
                <a:spcPts val="1600"/>
              </a:spcBef>
              <a:spcAft>
                <a:spcPts val="0"/>
              </a:spcAft>
              <a:buNone/>
            </a:pPr>
            <a:r>
              <a:rPr b="1" lang="en" sz="1200">
                <a:solidFill>
                  <a:schemeClr val="lt2"/>
                </a:solidFill>
                <a:latin typeface="Roboto"/>
                <a:ea typeface="Roboto"/>
                <a:cs typeface="Roboto"/>
                <a:sym typeface="Roboto"/>
              </a:rPr>
              <a:t>Irony and Mixed Signals</a:t>
            </a:r>
            <a:r>
              <a:rPr lang="en" sz="1200">
                <a:solidFill>
                  <a:schemeClr val="lt2"/>
                </a:solidFill>
                <a:latin typeface="Roboto"/>
                <a:ea typeface="Roboto"/>
                <a:cs typeface="Roboto"/>
                <a:sym typeface="Roboto"/>
              </a:rPr>
              <a:t>: Phrases like "guilty pleasure" confuse word-counters because they focus on negative individual words ("bad", "tacky") while missing the positive overall framing: </a:t>
            </a:r>
            <a:r>
              <a:rPr b="1" i="1" lang="en" sz="1200">
                <a:solidFill>
                  <a:schemeClr val="lt2"/>
                </a:solidFill>
                <a:latin typeface="Roboto"/>
                <a:ea typeface="Roboto"/>
                <a:cs typeface="Roboto"/>
                <a:sym typeface="Roboto"/>
              </a:rPr>
              <a:t>“That’s a bad, raunchy, pre- dictable, tacky, salacious soap opera. . . ‘The Best of Everything’ is just such a guilty pleasure for me”</a:t>
            </a:r>
            <a:endParaRPr b="1" i="1" sz="1200">
              <a:solidFill>
                <a:schemeClr val="lt2"/>
              </a:solidFill>
              <a:latin typeface="Roboto"/>
              <a:ea typeface="Roboto"/>
              <a:cs typeface="Roboto"/>
              <a:sym typeface="Roboto"/>
            </a:endParaRPr>
          </a:p>
          <a:p>
            <a:pPr indent="0" lvl="0" marL="0" rtl="0" algn="l">
              <a:lnSpc>
                <a:spcPct val="115000"/>
              </a:lnSpc>
              <a:spcBef>
                <a:spcPts val="1600"/>
              </a:spcBef>
              <a:spcAft>
                <a:spcPts val="1600"/>
              </a:spcAft>
              <a:buNone/>
            </a:pPr>
            <a:r>
              <a:t/>
            </a:r>
            <a:endParaRPr sz="1200">
              <a:solidFill>
                <a:schemeClr val="lt2"/>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1"/>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Sequential Shift</a:t>
            </a:r>
            <a:br>
              <a:rPr lang="en"/>
            </a:br>
            <a:r>
              <a:rPr lang="en" sz="1600"/>
              <a:t>LSTM</a:t>
            </a:r>
            <a:endParaRPr sz="1600"/>
          </a:p>
        </p:txBody>
      </p:sp>
      <p:sp>
        <p:nvSpPr>
          <p:cNvPr id="128" name="Google Shape;128;p21"/>
          <p:cNvSpPr txBox="1"/>
          <p:nvPr>
            <p:ph idx="1" type="body"/>
          </p:nvPr>
        </p:nvSpPr>
        <p:spPr>
          <a:xfrm>
            <a:off x="471900" y="2497900"/>
            <a:ext cx="3645900" cy="210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t>Order Matters</a:t>
            </a:r>
            <a:r>
              <a:rPr lang="en" sz="1200"/>
              <a:t>: LSTMs use a hidden state and gating mechanisms to process text sequentially, allowing the model to "remember" earlier words and understand word order</a:t>
            </a:r>
            <a:endParaRPr sz="1200"/>
          </a:p>
          <a:p>
            <a:pPr indent="0" lvl="0" marL="0" rtl="0" algn="l">
              <a:spcBef>
                <a:spcPts val="1600"/>
              </a:spcBef>
              <a:spcAft>
                <a:spcPts val="0"/>
              </a:spcAft>
              <a:buNone/>
            </a:pPr>
            <a:r>
              <a:t/>
            </a:r>
            <a:endParaRPr sz="1200"/>
          </a:p>
          <a:p>
            <a:pPr indent="0" lvl="0" marL="0" rtl="0" algn="l">
              <a:spcBef>
                <a:spcPts val="1600"/>
              </a:spcBef>
              <a:spcAft>
                <a:spcPts val="0"/>
              </a:spcAft>
              <a:buNone/>
            </a:pPr>
            <a:r>
              <a:rPr b="1" lang="en" sz="1200"/>
              <a:t>Performance</a:t>
            </a:r>
            <a:r>
              <a:rPr lang="en" sz="1200"/>
              <a:t>: 86% acc on SST-2 and 90% on IMDB</a:t>
            </a:r>
            <a:endParaRPr sz="1200"/>
          </a:p>
          <a:p>
            <a:pPr indent="0" lvl="0" marL="0" rtl="0" algn="l">
              <a:spcBef>
                <a:spcPts val="1600"/>
              </a:spcBef>
              <a:spcAft>
                <a:spcPts val="1600"/>
              </a:spcAft>
              <a:buNone/>
            </a:pPr>
            <a:r>
              <a:t/>
            </a:r>
            <a:endParaRPr sz="1200"/>
          </a:p>
        </p:txBody>
      </p:sp>
      <p:sp>
        <p:nvSpPr>
          <p:cNvPr id="129" name="Google Shape;129;p21"/>
          <p:cNvSpPr txBox="1"/>
          <p:nvPr/>
        </p:nvSpPr>
        <p:spPr>
          <a:xfrm>
            <a:off x="4498725" y="2461850"/>
            <a:ext cx="4264200" cy="2103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a:solidFill>
                  <a:schemeClr val="lt2"/>
                </a:solidFill>
                <a:latin typeface="Roboto"/>
                <a:ea typeface="Roboto"/>
                <a:cs typeface="Roboto"/>
                <a:sym typeface="Roboto"/>
              </a:rPr>
              <a:t>SST-2 Success</a:t>
            </a:r>
            <a:r>
              <a:rPr lang="en" sz="1200">
                <a:solidFill>
                  <a:schemeClr val="lt2"/>
                </a:solidFill>
                <a:latin typeface="Roboto"/>
                <a:ea typeface="Roboto"/>
                <a:cs typeface="Roboto"/>
                <a:sym typeface="Roboto"/>
              </a:rPr>
              <a:t>: the sequences are short enough to capture local syntactic nuances without losing context</a:t>
            </a:r>
            <a:endParaRPr sz="1200">
              <a:solidFill>
                <a:schemeClr val="lt2"/>
              </a:solidFill>
              <a:latin typeface="Roboto"/>
              <a:ea typeface="Roboto"/>
              <a:cs typeface="Roboto"/>
              <a:sym typeface="Roboto"/>
            </a:endParaRPr>
          </a:p>
          <a:p>
            <a:pPr indent="0" lvl="0" marL="0" rtl="0" algn="l">
              <a:lnSpc>
                <a:spcPct val="115000"/>
              </a:lnSpc>
              <a:spcBef>
                <a:spcPts val="1600"/>
              </a:spcBef>
              <a:spcAft>
                <a:spcPts val="0"/>
              </a:spcAft>
              <a:buNone/>
            </a:pPr>
            <a:r>
              <a:t/>
            </a:r>
            <a:endParaRPr sz="1200">
              <a:solidFill>
                <a:schemeClr val="lt2"/>
              </a:solidFill>
              <a:latin typeface="Roboto"/>
              <a:ea typeface="Roboto"/>
              <a:cs typeface="Roboto"/>
              <a:sym typeface="Roboto"/>
            </a:endParaRPr>
          </a:p>
          <a:p>
            <a:pPr indent="0" lvl="0" marL="0" rtl="0" algn="l">
              <a:lnSpc>
                <a:spcPct val="115000"/>
              </a:lnSpc>
              <a:spcBef>
                <a:spcPts val="1600"/>
              </a:spcBef>
              <a:spcAft>
                <a:spcPts val="1600"/>
              </a:spcAft>
              <a:buNone/>
            </a:pPr>
            <a:r>
              <a:rPr b="1" lang="en" sz="1200">
                <a:solidFill>
                  <a:schemeClr val="lt2"/>
                </a:solidFill>
                <a:latin typeface="Roboto"/>
                <a:ea typeface="Roboto"/>
                <a:cs typeface="Roboto"/>
                <a:sym typeface="Roboto"/>
              </a:rPr>
              <a:t>IMDB Struggle</a:t>
            </a:r>
            <a:r>
              <a:rPr lang="en" sz="1200">
                <a:solidFill>
                  <a:schemeClr val="lt2"/>
                </a:solidFill>
                <a:latin typeface="Roboto"/>
                <a:ea typeface="Roboto"/>
                <a:cs typeface="Roboto"/>
                <a:sym typeface="Roboto"/>
              </a:rPr>
              <a:t>: Showed no improvement over classical models; the sentiment signal becomes diluted over hundreds of words, making keyword-driven SVMs just as effective</a:t>
            </a:r>
            <a:endParaRPr sz="1800">
              <a:solidFill>
                <a:schemeClr val="lt2"/>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2"/>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Context Era (Transformers)</a:t>
            </a:r>
            <a:endParaRPr/>
          </a:p>
          <a:p>
            <a:pPr indent="0" lvl="0" marL="0" rtl="0" algn="l">
              <a:spcBef>
                <a:spcPts val="0"/>
              </a:spcBef>
              <a:spcAft>
                <a:spcPts val="0"/>
              </a:spcAft>
              <a:buNone/>
            </a:pPr>
            <a:r>
              <a:rPr lang="en" sz="1600"/>
              <a:t>RoBERTa &amp; RoBERTa + SCL</a:t>
            </a:r>
            <a:endParaRPr sz="1600"/>
          </a:p>
        </p:txBody>
      </p:sp>
      <p:sp>
        <p:nvSpPr>
          <p:cNvPr id="135" name="Google Shape;135;p22"/>
          <p:cNvSpPr txBox="1"/>
          <p:nvPr>
            <p:ph idx="1" type="body"/>
          </p:nvPr>
        </p:nvSpPr>
        <p:spPr>
          <a:xfrm>
            <a:off x="471900" y="1919075"/>
            <a:ext cx="3865800" cy="336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t>Deep Bidirectional Attention</a:t>
            </a:r>
            <a:r>
              <a:rPr lang="en" sz="1200"/>
              <a:t>: Unlike LSTMs, RoBERTa doesn't just read left-to-right; it analyzes how each word is reinforced or contradicted by its entire surroundings</a:t>
            </a:r>
            <a:endParaRPr sz="1200"/>
          </a:p>
          <a:p>
            <a:pPr indent="0" lvl="0" marL="0" rtl="0" algn="l">
              <a:spcBef>
                <a:spcPts val="1600"/>
              </a:spcBef>
              <a:spcAft>
                <a:spcPts val="0"/>
              </a:spcAft>
              <a:buNone/>
            </a:pPr>
            <a:r>
              <a:rPr b="1" lang="en" sz="1200"/>
              <a:t>Context over Frequency</a:t>
            </a:r>
            <a:r>
              <a:rPr lang="en" sz="1200"/>
              <a:t>: This architecture solves "The Wall" by understanding that a word like "bad" changes meaning when followed by "guilty pleasure"</a:t>
            </a:r>
            <a:endParaRPr sz="1200"/>
          </a:p>
          <a:p>
            <a:pPr indent="0" lvl="0" marL="0" rtl="0" algn="l">
              <a:spcBef>
                <a:spcPts val="1600"/>
              </a:spcBef>
              <a:spcAft>
                <a:spcPts val="0"/>
              </a:spcAft>
              <a:buNone/>
            </a:pPr>
            <a:r>
              <a:rPr b="1" lang="en" sz="1200"/>
              <a:t>SCL</a:t>
            </a:r>
            <a:r>
              <a:rPr lang="en" sz="1200"/>
              <a:t>: pulls same-sentiment reviews into tight, distinct clusters in the vector space</a:t>
            </a:r>
            <a:endParaRPr sz="1200"/>
          </a:p>
          <a:p>
            <a:pPr indent="0" lvl="0" marL="0" rtl="0" algn="l">
              <a:spcBef>
                <a:spcPts val="1600"/>
              </a:spcBef>
              <a:spcAft>
                <a:spcPts val="1600"/>
              </a:spcAft>
              <a:buNone/>
            </a:pPr>
            <a:r>
              <a:rPr b="1" lang="en" sz="1200"/>
              <a:t>Performance</a:t>
            </a:r>
            <a:r>
              <a:rPr lang="en" sz="1200"/>
              <a:t>: 95.5% acc on SST-2 and 94.6% on IMDB</a:t>
            </a:r>
            <a:endParaRPr sz="1200"/>
          </a:p>
        </p:txBody>
      </p:sp>
      <p:pic>
        <p:nvPicPr>
          <p:cNvPr id="136" name="Google Shape;136;p22"/>
          <p:cNvPicPr preferRelativeResize="0"/>
          <p:nvPr/>
        </p:nvPicPr>
        <p:blipFill>
          <a:blip r:embed="rId3">
            <a:alphaModFix/>
          </a:blip>
          <a:stretch>
            <a:fillRect/>
          </a:stretch>
        </p:blipFill>
        <p:spPr>
          <a:xfrm>
            <a:off x="5259425" y="2523400"/>
            <a:ext cx="3054524" cy="16236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3"/>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RoBERTa vs SVM improvements</a:t>
            </a:r>
            <a:endParaRPr/>
          </a:p>
          <a:p>
            <a:pPr indent="0" lvl="0" marL="0" rtl="0" algn="l">
              <a:spcBef>
                <a:spcPts val="0"/>
              </a:spcBef>
              <a:spcAft>
                <a:spcPts val="0"/>
              </a:spcAft>
              <a:buNone/>
            </a:pPr>
            <a:r>
              <a:rPr lang="en" sz="1600"/>
              <a:t>Examples of texts SVM got wrong and SCL got right</a:t>
            </a:r>
            <a:endParaRPr sz="1600"/>
          </a:p>
        </p:txBody>
      </p:sp>
      <p:sp>
        <p:nvSpPr>
          <p:cNvPr id="142" name="Google Shape;142;p23"/>
          <p:cNvSpPr txBox="1"/>
          <p:nvPr>
            <p:ph idx="1" type="body"/>
          </p:nvPr>
        </p:nvSpPr>
        <p:spPr>
          <a:xfrm>
            <a:off x="249900" y="1744175"/>
            <a:ext cx="8894100" cy="332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100"/>
              <a:t>Lexicon-poor — no polarity words, verdict implied by framing</a:t>
            </a:r>
            <a:r>
              <a:rPr lang="en" sz="1100"/>
              <a:t>: "While the design and locations and photography are strong assets in this film […] The case is the use of the soundtrack music: a mix of Gustav Mahler and Andrew Lloyd-Webber that plays constantly and loudly [...]"</a:t>
            </a:r>
            <a:endParaRPr sz="1100"/>
          </a:p>
          <a:p>
            <a:pPr indent="0" lvl="0" marL="0" rtl="0" algn="l">
              <a:spcBef>
                <a:spcPts val="1600"/>
              </a:spcBef>
              <a:spcAft>
                <a:spcPts val="0"/>
              </a:spcAft>
              <a:buNone/>
            </a:pPr>
            <a:r>
              <a:rPr b="1" lang="en" sz="1100"/>
              <a:t>Double negation — surface words signal opposite of verdict</a:t>
            </a:r>
            <a:r>
              <a:rPr lang="en" sz="1100"/>
              <a:t>: “Seeing that this movie was on the IMDB Bottom 20, I simply had to rent it. SUPRISE! SUPRISE! I have no regret of seeing this movie at all. In fact, I really enjoyed it... Rent it for a laugh that seems unintended but is actually meant to be funny. Wynorski is a genius.”</a:t>
            </a:r>
            <a:endParaRPr sz="1100"/>
          </a:p>
          <a:p>
            <a:pPr indent="0" lvl="0" marL="0" rtl="0" algn="l">
              <a:spcBef>
                <a:spcPts val="1600"/>
              </a:spcBef>
              <a:spcAft>
                <a:spcPts val="0"/>
              </a:spcAft>
              <a:buNone/>
            </a:pPr>
            <a:r>
              <a:rPr b="1" lang="en" sz="1100"/>
              <a:t>Contrast structure — positive start, negative verdict</a:t>
            </a:r>
            <a:r>
              <a:rPr lang="en" sz="1100"/>
              <a:t>: "This one started excellently. The photography and audio are the best I've experienced in years... Now for the minuses. The screenplay was awful. Lopez's part turned out to be irrelevant or totally worthless to the plot..."</a:t>
            </a:r>
            <a:endParaRPr sz="1100"/>
          </a:p>
          <a:p>
            <a:pPr indent="0" lvl="0" marL="0" rtl="0" algn="l">
              <a:spcBef>
                <a:spcPts val="1600"/>
              </a:spcBef>
              <a:spcAft>
                <a:spcPts val="0"/>
              </a:spcAft>
              <a:buNone/>
            </a:pPr>
            <a:r>
              <a:rPr lang="en" sz="1100"/>
              <a:t> </a:t>
            </a:r>
            <a:r>
              <a:rPr b="1" lang="en" sz="1100"/>
              <a:t>Cultural/rhetorical framing — no explicit sentiment, verdict implicit</a:t>
            </a:r>
            <a:r>
              <a:rPr lang="en" sz="1100"/>
              <a:t>:  "You cannot be seeing the same movie if you didn't grow up in France... You cannot translate its kind of fun — every name is a joke (how many people outside Paris would understand the pun in 'Couloirdebus'?).However Monica Bellucci is so beautiful, I almost forgot to breathe when I saw her."</a:t>
            </a:r>
            <a:endParaRPr sz="1100"/>
          </a:p>
          <a:p>
            <a:pPr indent="0" lvl="0" marL="0" rtl="0" algn="l">
              <a:spcBef>
                <a:spcPts val="1600"/>
              </a:spcBef>
              <a:spcAft>
                <a:spcPts val="1600"/>
              </a:spcAft>
              <a:buNone/>
            </a:pPr>
            <a:r>
              <a:rPr b="1" lang="en" sz="1100"/>
              <a:t>Sarcasm / ironic praise</a:t>
            </a:r>
            <a:r>
              <a:rPr lang="en" sz="1100"/>
              <a:t>: "The only negative I had is I felt like I wasted money on my Popcorn and Icee, there was no way I could eat or drink anything during this movie I was constantly laughing."</a:t>
            </a:r>
            <a:endParaRPr sz="1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Quantitative Results</a:t>
            </a:r>
            <a:endParaRPr/>
          </a:p>
        </p:txBody>
      </p:sp>
      <p:sp>
        <p:nvSpPr>
          <p:cNvPr id="148" name="Google Shape;148;p24"/>
          <p:cNvSpPr txBox="1"/>
          <p:nvPr>
            <p:ph idx="1" type="body"/>
          </p:nvPr>
        </p:nvSpPr>
        <p:spPr>
          <a:xfrm>
            <a:off x="471900" y="1919075"/>
            <a:ext cx="3631200" cy="274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t>Breaking the Ceiling</a:t>
            </a:r>
            <a:r>
              <a:rPr lang="en" sz="1200"/>
              <a:t>: RoBERTa+SCL successfully broke the 90% accuracy barrier on IMDB and pushed SST-2 past 94%</a:t>
            </a:r>
            <a:endParaRPr sz="1200"/>
          </a:p>
          <a:p>
            <a:pPr indent="0" lvl="0" marL="0" rtl="0" algn="l">
              <a:spcBef>
                <a:spcPts val="1600"/>
              </a:spcBef>
              <a:spcAft>
                <a:spcPts val="0"/>
              </a:spcAft>
              <a:buNone/>
            </a:pPr>
            <a:r>
              <a:rPr b="1" lang="en" sz="1200"/>
              <a:t>The Performance Gap</a:t>
            </a:r>
            <a:r>
              <a:rPr lang="en" sz="1200"/>
              <a:t>: On IMDB, the transition from SVM to RoBERTa+SCL resulted in a +3.79% jump—meaning 949 fewer misclassifications on the test set</a:t>
            </a:r>
            <a:endParaRPr sz="1200"/>
          </a:p>
          <a:p>
            <a:pPr indent="0" lvl="0" marL="0" rtl="0" algn="l">
              <a:spcBef>
                <a:spcPts val="1600"/>
              </a:spcBef>
              <a:spcAft>
                <a:spcPts val="1600"/>
              </a:spcAft>
              <a:buNone/>
            </a:pPr>
            <a:r>
              <a:rPr b="1" lang="en" sz="1200"/>
              <a:t>SCL Consistency</a:t>
            </a:r>
            <a:r>
              <a:rPr lang="en" sz="1200"/>
              <a:t>: Every SCL configuration outperformed the standard cross-entropy baseline on SST-2</a:t>
            </a:r>
            <a:endParaRPr sz="1200"/>
          </a:p>
        </p:txBody>
      </p:sp>
      <p:pic>
        <p:nvPicPr>
          <p:cNvPr id="149" name="Google Shape;149;p24"/>
          <p:cNvPicPr preferRelativeResize="0"/>
          <p:nvPr/>
        </p:nvPicPr>
        <p:blipFill rotWithShape="1">
          <a:blip r:embed="rId3">
            <a:alphaModFix/>
          </a:blip>
          <a:srcRect b="100" l="0" r="0" t="100"/>
          <a:stretch/>
        </p:blipFill>
        <p:spPr>
          <a:xfrm>
            <a:off x="4500225" y="2218786"/>
            <a:ext cx="4402001" cy="206796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lnSpc>
                <a:spcPct val="115000"/>
              </a:lnSpc>
              <a:spcBef>
                <a:spcPts val="1200"/>
              </a:spcBef>
              <a:spcAft>
                <a:spcPts val="1200"/>
              </a:spcAft>
              <a:buNone/>
            </a:pPr>
            <a:r>
              <a:rPr b="1" lang="en">
                <a:latin typeface="Arial"/>
                <a:ea typeface="Arial"/>
                <a:cs typeface="Arial"/>
                <a:sym typeface="Arial"/>
              </a:rPr>
              <a:t>Limitations</a:t>
            </a:r>
            <a:endParaRPr/>
          </a:p>
        </p:txBody>
      </p:sp>
      <p:sp>
        <p:nvSpPr>
          <p:cNvPr id="155" name="Google Shape;155;p25"/>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200"/>
              <a:t>Computational resources:</a:t>
            </a:r>
            <a:r>
              <a:rPr lang="en" sz="1200"/>
              <a:t> classical and hybrid models were lightweight and could run on standard laptops, while Transformer-based models required stronger hardware, longer training times and a rented high-memory GPU.</a:t>
            </a:r>
            <a:endParaRPr sz="1200"/>
          </a:p>
          <a:p>
            <a:pPr indent="0" lvl="0" marL="0" rtl="0" algn="l">
              <a:spcBef>
                <a:spcPts val="1200"/>
              </a:spcBef>
              <a:spcAft>
                <a:spcPts val="0"/>
              </a:spcAft>
              <a:buNone/>
            </a:pPr>
            <a:r>
              <a:rPr b="1" lang="en" sz="1200"/>
              <a:t>Hardware dependency:</a:t>
            </a:r>
            <a:r>
              <a:rPr lang="en" sz="1200"/>
              <a:t> for BERT and RoBERTa, we rented an NVIDIA RTX 5090 GPU with 32 GB of memory, especially because fine-tuning on larger datasets such as IMDB was more demanding.</a:t>
            </a:r>
            <a:endParaRPr sz="1200"/>
          </a:p>
          <a:p>
            <a:pPr indent="0" lvl="0" marL="0" rtl="0" algn="l">
              <a:spcBef>
                <a:spcPts val="1200"/>
              </a:spcBef>
              <a:spcAft>
                <a:spcPts val="0"/>
              </a:spcAft>
              <a:buNone/>
            </a:pPr>
            <a:r>
              <a:rPr b="1" lang="en" sz="1200"/>
              <a:t>Higher training complexity:</a:t>
            </a:r>
            <a:r>
              <a:rPr lang="en" sz="1200"/>
              <a:t> RoBERTa with supervised contrastive learning was more expensive to train because it optimized both classification loss and contrastive loss.</a:t>
            </a:r>
            <a:endParaRPr sz="1200"/>
          </a:p>
          <a:p>
            <a:pPr indent="0" lvl="0" marL="0" rtl="0" algn="l">
              <a:spcBef>
                <a:spcPts val="1200"/>
              </a:spcBef>
              <a:spcAft>
                <a:spcPts val="0"/>
              </a:spcAft>
              <a:buNone/>
            </a:pPr>
            <a:r>
              <a:rPr b="1" lang="en" sz="1200"/>
              <a:t>Limited task scope:</a:t>
            </a:r>
            <a:r>
              <a:rPr lang="en" sz="1200"/>
              <a:t> the study focused only on English binary sentiment analysis using IMDB and SST-2.</a:t>
            </a:r>
            <a:endParaRPr sz="1200"/>
          </a:p>
          <a:p>
            <a:pPr indent="0" lvl="0" marL="0" rtl="0" algn="l">
              <a:spcBef>
                <a:spcPts val="1200"/>
              </a:spcBef>
              <a:spcAft>
                <a:spcPts val="0"/>
              </a:spcAft>
              <a:buNone/>
            </a:pPr>
            <a:r>
              <a:rPr b="1" lang="en" sz="1200"/>
              <a:t>Generalization limits:</a:t>
            </a:r>
            <a:r>
              <a:rPr lang="en" sz="1200"/>
              <a:t> results may not directly transfer to other languages, multilingual datasets or multi-class sentiment tasks.</a:t>
            </a:r>
            <a:endParaRPr sz="1200"/>
          </a:p>
          <a:p>
            <a:pPr indent="0" lvl="0" marL="0" rtl="0" algn="l">
              <a:spcBef>
                <a:spcPts val="1200"/>
              </a:spcBef>
              <a:spcAft>
                <a:spcPts val="1600"/>
              </a:spcAft>
              <a:buNone/>
            </a:pPr>
            <a:r>
              <a:t/>
            </a:r>
            <a:endParaRPr b="1" sz="12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6"/>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lnSpc>
                <a:spcPct val="115000"/>
              </a:lnSpc>
              <a:spcBef>
                <a:spcPts val="1200"/>
              </a:spcBef>
              <a:spcAft>
                <a:spcPts val="1200"/>
              </a:spcAft>
              <a:buNone/>
            </a:pPr>
            <a:r>
              <a:rPr b="1" lang="en">
                <a:latin typeface="Arial"/>
                <a:ea typeface="Arial"/>
                <a:cs typeface="Arial"/>
                <a:sym typeface="Arial"/>
              </a:rPr>
              <a:t>Ethical Statement</a:t>
            </a:r>
            <a:endParaRPr/>
          </a:p>
        </p:txBody>
      </p:sp>
      <p:sp>
        <p:nvSpPr>
          <p:cNvPr id="161" name="Google Shape;161;p26"/>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200"/>
              <a:t>Profiling risk:</a:t>
            </a:r>
            <a:r>
              <a:rPr lang="en" sz="1200"/>
              <a:t> sentiment analysis can be used to build behavioral profiles based on online texts, even without explicit consent.</a:t>
            </a:r>
            <a:endParaRPr sz="1200"/>
          </a:p>
          <a:p>
            <a:pPr indent="0" lvl="0" marL="0" rtl="0" algn="l">
              <a:spcBef>
                <a:spcPts val="1200"/>
              </a:spcBef>
              <a:spcAft>
                <a:spcPts val="0"/>
              </a:spcAft>
              <a:buNone/>
            </a:pPr>
            <a:r>
              <a:rPr b="1" lang="en" sz="1200"/>
              <a:t>Surveillance concerns:</a:t>
            </a:r>
            <a:r>
              <a:rPr lang="en" sz="1200"/>
              <a:t> if used by institutions, automatic classification could monitor citizens, detect criticism or label people as problematic.</a:t>
            </a:r>
            <a:endParaRPr sz="1200"/>
          </a:p>
          <a:p>
            <a:pPr indent="0" lvl="0" marL="0" rtl="0" algn="l">
              <a:spcBef>
                <a:spcPts val="1200"/>
              </a:spcBef>
              <a:spcAft>
                <a:spcPts val="0"/>
              </a:spcAft>
              <a:buNone/>
            </a:pPr>
            <a:r>
              <a:rPr b="1" lang="en" sz="1200"/>
              <a:t>Misclassification impact:</a:t>
            </a:r>
            <a:r>
              <a:rPr lang="en" sz="1200"/>
              <a:t> sarcasm, jokes, anger or misunderstood opinions may be wrongly classified as dangerous, hostile or suspicious.</a:t>
            </a:r>
            <a:endParaRPr sz="1200"/>
          </a:p>
          <a:p>
            <a:pPr indent="0" lvl="0" marL="0" rtl="0" algn="l">
              <a:spcBef>
                <a:spcPts val="1200"/>
              </a:spcBef>
              <a:spcAft>
                <a:spcPts val="0"/>
              </a:spcAft>
              <a:buNone/>
            </a:pPr>
            <a:r>
              <a:rPr b="1" lang="en" sz="1200"/>
              <a:t>Decision-making limits:</a:t>
            </a:r>
            <a:r>
              <a:rPr lang="en" sz="1200"/>
              <a:t> sentiment predictions should not be used as direct evidence or as the only basis for legal, administrative or security decisions.</a:t>
            </a:r>
            <a:endParaRPr sz="1200"/>
          </a:p>
          <a:p>
            <a:pPr indent="0" lvl="0" marL="0" rtl="0" algn="l">
              <a:spcBef>
                <a:spcPts val="1200"/>
              </a:spcBef>
              <a:spcAft>
                <a:spcPts val="0"/>
              </a:spcAft>
              <a:buNone/>
            </a:pPr>
            <a:r>
              <a:rPr b="1" lang="en" sz="1200"/>
              <a:t>Responsible use:</a:t>
            </a:r>
            <a:r>
              <a:rPr lang="en" sz="1200"/>
              <a:t> in real-world applications, such systems should be transparent, limited in scope and supervised by humans. Outputs should be treated as uncertain predictions, not facts about a person.</a:t>
            </a:r>
            <a:endParaRPr sz="1200"/>
          </a:p>
          <a:p>
            <a:pPr indent="0" lvl="0" marL="0" rtl="0" algn="l">
              <a:spcBef>
                <a:spcPts val="1200"/>
              </a:spcBef>
              <a:spcAft>
                <a:spcPts val="1600"/>
              </a:spcAft>
              <a:buNone/>
            </a:pPr>
            <a:r>
              <a:t/>
            </a:r>
            <a:endParaRPr b="1" sz="1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7"/>
          <p:cNvSpPr txBox="1"/>
          <p:nvPr>
            <p:ph idx="4294967295" type="title"/>
          </p:nvPr>
        </p:nvSpPr>
        <p:spPr>
          <a:xfrm>
            <a:off x="773700" y="2190900"/>
            <a:ext cx="7596600" cy="761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rPr>
              <a:t>Thank you for your time!</a:t>
            </a:r>
            <a:endParaRPr>
              <a:solidFill>
                <a:schemeClr val="lt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